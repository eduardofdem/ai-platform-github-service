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5421ee95943cf" /><Relationship Type="http://schemas.openxmlformats.org/officeDocument/2006/relationships/extended-properties" Target="/docProps/app.xml" Id="Rde50116924e94c8d" /><Relationship Type="http://schemas.openxmlformats.org/officeDocument/2006/relationships/officeDocument" Target="/ppt/presentation.xml" Id="Rfbfeb893232e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46f81717d4890"/>
  </p:sldMasterIdLst>
  <p:notesMasterIdLst>
    <p:notesMasterId xmlns:r="http://schemas.openxmlformats.org/officeDocument/2006/relationships" r:id="R74ef624e9e0b4a63"/>
  </p:notesMasterIdLst>
  <p:sldIdLst>
    <p:sldId xmlns:r="http://schemas.openxmlformats.org/officeDocument/2006/relationships" id="256" r:id="R6c9d8366575a40fc"/>
    <p:sldId xmlns:r="http://schemas.openxmlformats.org/officeDocument/2006/relationships" id="257" r:id="R1df984cf41254032"/>
    <p:sldId xmlns:r="http://schemas.openxmlformats.org/officeDocument/2006/relationships" id="258" r:id="Rc2c6929d8e4249bc"/>
    <p:sldId xmlns:r="http://schemas.openxmlformats.org/officeDocument/2006/relationships" id="259" r:id="Reb4b8ced6c154fb4"/>
    <p:sldId xmlns:r="http://schemas.openxmlformats.org/officeDocument/2006/relationships" id="260" r:id="R688b69a47dfd4434"/>
    <p:sldId xmlns:r="http://schemas.openxmlformats.org/officeDocument/2006/relationships" id="261" r:id="R9f9e7a387da34ea5"/>
    <p:sldId xmlns:r="http://schemas.openxmlformats.org/officeDocument/2006/relationships" id="262" r:id="R31baf930999c4f3a"/>
    <p:sldId xmlns:r="http://schemas.openxmlformats.org/officeDocument/2006/relationships" id="263" r:id="R68c379807a2849a3"/>
    <p:sldId xmlns:r="http://schemas.openxmlformats.org/officeDocument/2006/relationships" id="264" r:id="R82d834ea30a24b1b"/>
    <p:sldId xmlns:r="http://schemas.openxmlformats.org/officeDocument/2006/relationships" id="265" r:id="R40684308f411441b"/>
    <p:sldId xmlns:r="http://schemas.openxmlformats.org/officeDocument/2006/relationships" id="266" r:id="R9c6ff1c2d0c14ef4"/>
    <p:sldId xmlns:r="http://schemas.openxmlformats.org/officeDocument/2006/relationships" id="267" r:id="R9d4be45625ba4704"/>
    <p:sldId xmlns:r="http://schemas.openxmlformats.org/officeDocument/2006/relationships" id="268" r:id="R07d8a027530e4061"/>
    <p:sldId xmlns:r="http://schemas.openxmlformats.org/officeDocument/2006/relationships" id="269" r:id="R55306ddf09924a44"/>
    <p:sldId xmlns:r="http://schemas.openxmlformats.org/officeDocument/2006/relationships" id="270" r:id="R6a48687187c64ab6"/>
    <p:sldId xmlns:r="http://schemas.openxmlformats.org/officeDocument/2006/relationships" id="271" r:id="R16daf2e2ceae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b5c6b7b704771" /><Relationship Type="http://schemas.openxmlformats.org/officeDocument/2006/relationships/slideMaster" Target="/ppt/slideMasters/slideMaster1.xml" Id="R84346f81717d4890" /><Relationship Type="http://schemas.openxmlformats.org/officeDocument/2006/relationships/notesMaster" Target="/ppt/notesMasters/notesMaster1.xml" Id="R74ef624e9e0b4a63" /><Relationship Type="http://schemas.openxmlformats.org/officeDocument/2006/relationships/presProps" Target="/ppt/presProps.xml" Id="R122f792ab8064353" /><Relationship Type="http://schemas.openxmlformats.org/officeDocument/2006/relationships/tableStyles" Target="/ppt/tableStyles.xml" Id="Re27928092bab41b8" /><Relationship Type="http://schemas.openxmlformats.org/officeDocument/2006/relationships/slide" Target="/ppt/slides/slide1.xml" Id="R6c9d8366575a40fc" /><Relationship Type="http://schemas.openxmlformats.org/officeDocument/2006/relationships/slide" Target="/ppt/slides/slide2.xml" Id="R1df984cf41254032" /><Relationship Type="http://schemas.openxmlformats.org/officeDocument/2006/relationships/slide" Target="/ppt/slides/slide3.xml" Id="Rc2c6929d8e4249bc" /><Relationship Type="http://schemas.openxmlformats.org/officeDocument/2006/relationships/slide" Target="/ppt/slides/slide4.xml" Id="Reb4b8ced6c154fb4" /><Relationship Type="http://schemas.openxmlformats.org/officeDocument/2006/relationships/slide" Target="/ppt/slides/slide5.xml" Id="R688b69a47dfd4434" /><Relationship Type="http://schemas.openxmlformats.org/officeDocument/2006/relationships/slide" Target="/ppt/slides/slide6.xml" Id="R9f9e7a387da34ea5" /><Relationship Type="http://schemas.openxmlformats.org/officeDocument/2006/relationships/slide" Target="/ppt/slides/slide7.xml" Id="R31baf930999c4f3a" /><Relationship Type="http://schemas.openxmlformats.org/officeDocument/2006/relationships/slide" Target="/ppt/slides/slide8.xml" Id="R68c379807a2849a3" /><Relationship Type="http://schemas.openxmlformats.org/officeDocument/2006/relationships/slide" Target="/ppt/slides/slide9.xml" Id="R82d834ea30a24b1b" /><Relationship Type="http://schemas.openxmlformats.org/officeDocument/2006/relationships/slide" Target="/ppt/slides/slide10.xml" Id="R40684308f411441b" /><Relationship Type="http://schemas.openxmlformats.org/officeDocument/2006/relationships/slide" Target="/ppt/slides/slide11.xml" Id="R9c6ff1c2d0c14ef4" /><Relationship Type="http://schemas.openxmlformats.org/officeDocument/2006/relationships/slide" Target="/ppt/slides/slide12.xml" Id="R9d4be45625ba4704" /><Relationship Type="http://schemas.openxmlformats.org/officeDocument/2006/relationships/slide" Target="/ppt/slides/slide13.xml" Id="R07d8a027530e4061" /><Relationship Type="http://schemas.openxmlformats.org/officeDocument/2006/relationships/slide" Target="/ppt/slides/slide14.xml" Id="R55306ddf09924a44" /><Relationship Type="http://schemas.openxmlformats.org/officeDocument/2006/relationships/slide" Target="/ppt/slides/slide15.xml" Id="R6a48687187c64ab6" /><Relationship Type="http://schemas.openxmlformats.org/officeDocument/2006/relationships/slide" Target="/ppt/slides/slide16.xml" Id="R16daf2e2ceae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f863d2ab045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8e8819080488e" /><Relationship Type="http://schemas.openxmlformats.org/officeDocument/2006/relationships/notesMaster" Target="/ppt/notesMasters/notesMaster1.xml" Id="R4ddbdb4b2bd54f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253d981b14dd2" /><Relationship Type="http://schemas.openxmlformats.org/officeDocument/2006/relationships/notesMaster" Target="/ppt/notesMasters/notesMaster1.xml" Id="Rcc17f923ae03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a94c706f34f2c" /><Relationship Type="http://schemas.openxmlformats.org/officeDocument/2006/relationships/notesMaster" Target="/ppt/notesMasters/notesMaster1.xml" Id="Rece4f0282dbd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12b54b8dd4601" /><Relationship Type="http://schemas.openxmlformats.org/officeDocument/2006/relationships/notesMaster" Target="/ppt/notesMasters/notesMaster1.xml" Id="Ra9f96543abda45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20eba61d3347e2" /><Relationship Type="http://schemas.openxmlformats.org/officeDocument/2006/relationships/notesMaster" Target="/ppt/notesMasters/notesMaster1.xml" Id="Re9b867392de24d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2e8d64e144414" /><Relationship Type="http://schemas.openxmlformats.org/officeDocument/2006/relationships/notesMaster" Target="/ppt/notesMasters/notesMaster1.xml" Id="Rcc1b34ef52134d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8ae747890f46d6" /><Relationship Type="http://schemas.openxmlformats.org/officeDocument/2006/relationships/notesMaster" Target="/ppt/notesMasters/notesMaster1.xml" Id="R432b524fbead48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a87f0b8a124edd" /><Relationship Type="http://schemas.openxmlformats.org/officeDocument/2006/relationships/notesMaster" Target="/ppt/notesMasters/notesMaster1.xml" Id="Rfe855553c8fc46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35064fe115404e" /><Relationship Type="http://schemas.openxmlformats.org/officeDocument/2006/relationships/notesMaster" Target="/ppt/notesMasters/notesMaster1.xml" Id="R6df0b389589140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46856fb7c54801" /><Relationship Type="http://schemas.openxmlformats.org/officeDocument/2006/relationships/notesMaster" Target="/ppt/notesMasters/notesMaster1.xml" Id="R336a85ab1acc41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3b24cc4bac4239" /><Relationship Type="http://schemas.openxmlformats.org/officeDocument/2006/relationships/notesMaster" Target="/ppt/notesMasters/notesMaster1.xml" Id="R12007576352042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51a67b4d7045fb" /><Relationship Type="http://schemas.openxmlformats.org/officeDocument/2006/relationships/notesMaster" Target="/ppt/notesMasters/notesMaster1.xml" Id="Ra5eb487ec4ce47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8d28d54d4c4537" /><Relationship Type="http://schemas.openxmlformats.org/officeDocument/2006/relationships/notesMaster" Target="/ppt/notesMasters/notesMaster1.xml" Id="R367e87fb50fa40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0732068f694a12" /><Relationship Type="http://schemas.openxmlformats.org/officeDocument/2006/relationships/notesMaster" Target="/ppt/notesMasters/notesMaster1.xml" Id="R7a2f6b696a8c47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320dff4f1b4164" /><Relationship Type="http://schemas.openxmlformats.org/officeDocument/2006/relationships/notesMaster" Target="/ppt/notesMasters/notesMaster1.xml" Id="Rfef6ec87b61248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65cd933dc2498d" /><Relationship Type="http://schemas.openxmlformats.org/officeDocument/2006/relationships/notesMaster" Target="/ppt/notesMasters/notesMaster1.xml" Id="Ra4acc2d9ce69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Abrir posicionando o grupo e o objetivo.</a:t>
            </a:r>
          </a:p>
          <a:p xmlns:a="http://schemas.openxmlformats.org/drawingml/2006/main">
            <a:r>
              <a:t>Fala sugerida: Somos Pedro Cavalcante, Henrique Ribeiro e Eduardo Ferreira de Mattos. Nosso grupo é responsável pelo Módulo 2, que conecta a atividade real no GitHub à plataforma de Assistente Inteligente de Engenharia de Software.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00:30</a:t>
            </a:r>
          </a:p>
          <a:p xmlns:a="http://schemas.openxmlformats.org/drawingml/2006/main">
            <a:r>
              <a:t>Mensagem principal: Explicar o papel do módulo.</a:t>
            </a:r>
          </a:p>
          <a:p xmlns:a="http://schemas.openxmlformats.org/drawingml/2006/main">
            <a:r>
              <a:t>Fala sugerida: O GitHub concentra os sinais do trabalho: commits, branches, pull requests e eventos. Nosso módulo recebe, valida, organiza e sincroniza esses dados para que os demais serviços consigam consultar informações confiáveis.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00:35</a:t>
            </a:r>
          </a:p>
          <a:p xmlns:a="http://schemas.openxmlformats.org/drawingml/2006/main">
            <a:r>
              <a:t>Mensagem principal: Resumir o perímetro técnico.</a:t>
            </a:r>
          </a:p>
          <a:p xmlns:a="http://schemas.openxmlformats.org/drawingml/2006/main">
            <a:r>
              <a:t>Fala sugerida: O fluxo começa nas APIs e na autenticação, passa por webhooks, persistência e sincronização, e termina em APIs consumidas por analytics, IA e outros módulos. Idempotência, logs, resiliência e testes sustentam o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00:30</a:t>
            </a:r>
          </a:p>
          <a:p xmlns:a="http://schemas.openxmlformats.org/drawingml/2006/main">
            <a:r>
              <a:t>Mensagem principal: Apresentar os três perfis.</a:t>
            </a:r>
          </a:p>
          <a:p xmlns:a="http://schemas.openxmlformats.org/drawingml/2006/main">
            <a:r>
              <a:t>Fala sugerida: O Product Owner acompanha valor e alinhamento. O gerente ou Scrum Master observa andamento e gargalos. O desenvolvedor produz os eventos capturados e recebe retorno sobre o fluxo. O mesmo dado atende necessidades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00:35</a:t>
            </a:r>
          </a:p>
          <a:p xmlns:a="http://schemas.openxmlformats.org/drawingml/2006/main">
            <a:r>
              <a:t>Mensagem principal: Explicar a decomposição do trabalho.</a:t>
            </a:r>
          </a:p>
          <a:p xmlns:a="http://schemas.openxmlformats.org/drawingml/2006/main">
            <a:r>
              <a:t>Fala sugerida: No YouTrack, organizamos Epic, Feature e User Story. Os sete Epics cobrem o ciclo do módulo e o levantamento chegou a aproximadamente cem histórias. Esse total representa o universo do produto, não execução simultânea.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00:35</a:t>
            </a:r>
          </a:p>
          <a:p xmlns:a="http://schemas.openxmlformats.org/drawingml/2006/main">
            <a:r>
              <a:t>Mensagem principal: Situar a execução no semestre.</a:t>
            </a:r>
          </a:p>
          <a:p xmlns:a="http://schemas.openxmlformats.org/drawingml/2006/main">
            <a:r>
              <a:t>Fala sugerida: O cronograma vai de 28 de agosto a 12 de novembro, cerca de onze semanas. Ele avança da fundação GitHub para webhooks, sincronização, analytics, DevOps e integração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00:40</a:t>
            </a:r>
          </a:p>
          <a:p xmlns:a="http://schemas.openxmlformats.org/drawingml/2006/main">
            <a:r>
              <a:t>Mensagem principal: Mostrar o recorte end-to-end.</a:t>
            </a:r>
          </a:p>
          <a:p xmlns:a="http://schemas.openxmlformats.org/drawingml/2006/main">
            <a:r>
              <a:t>Fala sugerida: Em vez de tentar implementar cerca de cem histórias ao mesmo tempo, escolhemos uma trilha funcional: handshake, webhook, HMAC, commits, idempotência, persistência, sincronização e APIs. Docker, CI, logs, Swagger e E2E apoiam 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00:35</a:t>
            </a:r>
          </a:p>
          <a:p xmlns:a="http://schemas.openxmlformats.org/drawingml/2006/main">
            <a:r>
              <a:t>Mensagem principal: Explicar organização e estado atual.</a:t>
            </a:r>
          </a:p>
          <a:p xmlns:a="http://schemas.openxmlformats.org/drawingml/2006/main">
            <a:r>
              <a:t>Fala sugerida: Usamos Scrum para organizar objetivo, prioridade e acompanhamento, e o Kanban para tornar o fluxo visível. Backlog é o universo planejado; To-Do é o recorte priorizado; Doing mostra o trabalho atual; Done registra o concluído.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Apresentar a tela principal do protótipo.</a:t>
            </a:r>
          </a:p>
          <a:p xmlns:a="http://schemas.openxmlformats.org/drawingml/2006/main">
            <a:r>
              <a:t>Fala sugerida: Esta é a visão operacional da integração: status da sincronização, cobertura do repositório, atividades recentes e diagnóstico. O painel lateral mostra como uma falha pode ser investigada e repetida.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Explicar segurança e permissões.</a:t>
            </a:r>
          </a:p>
          <a:p xmlns:a="http://schemas.openxmlformats.org/drawingml/2006/main">
            <a:r>
              <a:t>Fala sugerida: Aqui o protótipo concentra gestão de credenciais, teste de conectividade, permissões e auditoria. A intenção é tornar explícito o que o token permite e quando ele precisa ser rotacionado.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Mostrar rastreabilidade dos eventos.</a:t>
            </a:r>
          </a:p>
          <a:p xmlns:a="http://schemas.openxmlformats.org/drawingml/2006/main">
            <a:r>
              <a:t>Fala sugerida: O monitor de webhooks acompanha recebimento, validação HMAC, processamento assíncrono e persistência. A inspeção do JSON ajuda a diagnosticar um evento sem perder a visão do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Explicar carga inicial e delta sync.</a:t>
            </a:r>
          </a:p>
          <a:p xmlns:a="http://schemas.openxmlformats.org/drawingml/2006/main">
            <a:r>
              <a:t>Fala sugerida: Esta tela separa a importação histórica da sincronização incremental. Também evidencia vínculos entre contribuidores e identidades acadêmicas, que precisam ser revisáveis e auditáveis.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Conectar dados a decisões.</a:t>
            </a:r>
          </a:p>
          <a:p xmlns:a="http://schemas.openxmlformats.org/drawingml/2006/main">
            <a:r>
              <a:t>Fala sugerida: Os dados sincronizados alimentam indicadores de fluxo e alertas. O objetivo não é ranquear pessoas, mas detectar esperas sistêmicas, pull requests bloqueados e pontos de atenção para o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Explicar a camada de assistência.</a:t>
            </a:r>
          </a:p>
          <a:p xmlns:a="http://schemas.openxmlformats.org/drawingml/2006/main">
            <a:r>
              <a:t>Fala sugerida: A IA aparece como apoio: resume a semana, sugere descrição de pull request e verifica requisitos. O protótipo mantém revisão humana e trilha de auditoria antes de compartilhar qualquer saída.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Mensagem principal: Fechar o fluxo do protótipo.</a:t>
            </a:r>
          </a:p>
          <a:p xmlns:a="http://schemas.openxmlformats.org/drawingml/2006/main">
            <a:r>
              <a:t>Fala sugerida: A última tela reúne esteira CI/CD, testes, segurança, cobertura, documentação e release. Ela representa o ponto em que integração, qualidade e governança convergem antes da publicação.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00:30</a:t>
            </a:r>
          </a:p>
          <a:p xmlns:a="http://schemas.openxmlformats.org/drawingml/2006/main">
            <a:r>
              <a:t>Mensagem principal: Encerrar com limites honestos.</a:t>
            </a:r>
          </a:p>
          <a:p xmlns:a="http://schemas.openxmlformats.org/drawingml/2006/main">
            <a:r>
              <a:t>Fala sugerida: Já estruturamos escopo, perfis, backlog, cronograma, Scrum e Kanban, priorização e o protótipo. As telas são Figma, não um MVP funcional. Agora o foco é implementar a trilha end-to-end, testar, integrar e preparar o primeiro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339dcb0da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9794a86e034a8f" /><Relationship Type="http://schemas.openxmlformats.org/officeDocument/2006/relationships/slideLayout" Target="/ppt/slideLayouts/slideLayout1.xml" Id="R0d7e6bc3cc314e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e6bc3cc314e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a0fa21fd94056" /><Relationship Type="http://schemas.openxmlformats.org/officeDocument/2006/relationships/notesSlide" Target="/ppt/notesSlides/notesSlide1.xml" Id="Rd5dd6e5c65d44f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a088a700b45a6" /><Relationship Type="http://schemas.openxmlformats.org/officeDocument/2006/relationships/notesSlide" Target="/ppt/notesSlides/notesSlide2.xml" Id="Reece9fd5c87d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c05a3fd444989" /><Relationship Type="http://schemas.openxmlformats.org/officeDocument/2006/relationships/notesSlide" Target="/ppt/notesSlides/notesSlide3.xml" Id="Raf6eb69e664d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a707781bf4af3" /><Relationship Type="http://schemas.openxmlformats.org/officeDocument/2006/relationships/notesSlide" Target="/ppt/notesSlides/notesSlide4.xml" Id="R5ca6db69580940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18b9cb4444cf0" /><Relationship Type="http://schemas.openxmlformats.org/officeDocument/2006/relationships/image" Target="/ppt/media/image.png" Id="R4c4bf2df68a84de6" /><Relationship Type="http://schemas.openxmlformats.org/officeDocument/2006/relationships/notesSlide" Target="/ppt/notesSlides/notesSlide5.xml" Id="R2b94b5b4ea6a44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47dd4e0e04f90" /><Relationship Type="http://schemas.openxmlformats.org/officeDocument/2006/relationships/image" Target="/ppt/media/image2.png" Id="Re3f62a1300884b22" /><Relationship Type="http://schemas.openxmlformats.org/officeDocument/2006/relationships/notesSlide" Target="/ppt/notesSlides/notesSlide6.xml" Id="R9c3d7f9393d546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d47d3147a434b" /><Relationship Type="http://schemas.openxmlformats.org/officeDocument/2006/relationships/image" Target="/ppt/media/image3.png" Id="R0bfbb0cd199d48f2" /><Relationship Type="http://schemas.openxmlformats.org/officeDocument/2006/relationships/notesSlide" Target="/ppt/notesSlides/notesSlide7.xml" Id="R92615e65951441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914f79f64cfa" /><Relationship Type="http://schemas.openxmlformats.org/officeDocument/2006/relationships/image" Target="/ppt/media/image4.png" Id="Rd1830fde05564cfc" /><Relationship Type="http://schemas.openxmlformats.org/officeDocument/2006/relationships/notesSlide" Target="/ppt/notesSlides/notesSlide8.xml" Id="R29af462d35f942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53f71c472414d" /><Relationship Type="http://schemas.openxmlformats.org/officeDocument/2006/relationships/image" Target="/ppt/media/image5.png" Id="R6b46d5cbddb1421c" /><Relationship Type="http://schemas.openxmlformats.org/officeDocument/2006/relationships/notesSlide" Target="/ppt/notesSlides/notesSlide9.xml" Id="Rad32cd2d506f41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5438b03c34ae7" /><Relationship Type="http://schemas.openxmlformats.org/officeDocument/2006/relationships/image" Target="/ppt/media/image6.png" Id="R864d64e3f0144a82" /><Relationship Type="http://schemas.openxmlformats.org/officeDocument/2006/relationships/notesSlide" Target="/ppt/notesSlides/notesSlide10.xml" Id="Rd989567dbba341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36c5494f4d4c" /><Relationship Type="http://schemas.openxmlformats.org/officeDocument/2006/relationships/image" Target="/ppt/media/image7.png" Id="R849d5a34f9a84f3a" /><Relationship Type="http://schemas.openxmlformats.org/officeDocument/2006/relationships/notesSlide" Target="/ppt/notesSlides/notesSlide11.xml" Id="Rfe8e7aa7c1714b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5a8f6cbc44e72" /><Relationship Type="http://schemas.openxmlformats.org/officeDocument/2006/relationships/image" Target="/ppt/media/image8.png" Id="R620c1664b9f543cb" /><Relationship Type="http://schemas.openxmlformats.org/officeDocument/2006/relationships/notesSlide" Target="/ppt/notesSlides/notesSlide12.xml" Id="Ra99be654881a4c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45fc2db6e4c81" /><Relationship Type="http://schemas.openxmlformats.org/officeDocument/2006/relationships/image" Target="/ppt/media/image9.png" Id="R9772f5d9009c4e1a" /><Relationship Type="http://schemas.openxmlformats.org/officeDocument/2006/relationships/notesSlide" Target="/ppt/notesSlides/notesSlide13.xml" Id="R91560da2b50c4c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f9ada04764589" /><Relationship Type="http://schemas.openxmlformats.org/officeDocument/2006/relationships/image" Target="/ppt/media/image10.png" Id="R949699b18c7142ce" /><Relationship Type="http://schemas.openxmlformats.org/officeDocument/2006/relationships/notesSlide" Target="/ppt/notesSlides/notesSlide14.xml" Id="Rf5550d99456e4d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018906fa46cc" /><Relationship Type="http://schemas.openxmlformats.org/officeDocument/2006/relationships/image" Target="/ppt/media/image11.png" Id="R0aeadd5f4e114f20" /><Relationship Type="http://schemas.openxmlformats.org/officeDocument/2006/relationships/notesSlide" Target="/ppt/notesSlides/notesSlide15.xml" Id="Rea059af4b0eb4b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3e0530fd439c" /><Relationship Type="http://schemas.openxmlformats.org/officeDocument/2006/relationships/notesSlide" Target="/ppt/notesSlides/notesSlide16.xml" Id="Rd32cf28f087249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DF8DD-8A19-4941-AD6F-BBB32E0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C"/>
          </a:solidFill>
          <a:ln xmlns:a="http://schemas.openxmlformats.org/drawingml/2006/main" w="0">
            <a:solidFill>
              <a:srgbClr val="E43D4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5CF8A-594A-477C-B650-C2C2EBC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AP1 • ENGENHARIA DE SOFTWARE • 2026.2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8E109-47E3-4BA3-BE82-6E50A2E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C5EA8-24E9-4FC7-962A-7DC45EA6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Integração e Sincronização</a:t>
            </a:r>
          </a:p>
          <a:p xmlns:a="http://schemas.openxmlformats.org/drawingml/2006/main">
            <a:pPr algn="l">
              <a:defRPr sz="35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B43A4-188B-4ED4-B091-40729A23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A ponte entre a atividade real dos desenvolvedores e a inteligência da plataforma.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1186D-06B1-4C72-B183-2B5F909F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4775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8BA4D-B018-4717-8350-5E0C0A33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NEXUS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6B8E-1AFF-403E-8581-43344210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ACADEMIC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A31E6-A31F-453C-833D-3280666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19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Plataforma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B3C0D-A2A9-43E2-8EEF-4B28A7FF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Pedro Cavalcante • Henrique Ribeiro • Eduardo Ferreira de Mattos</a:t>
            </a:r>
          </a:p>
        </p:txBody>
      </p:sp>
    </p:spTree>
    <p:extLst>
      <p:ext uri="{BB962C8B-B14F-4D97-AF65-F5344CB8AC3E}">
        <p14:creationId xmlns:p14="http://schemas.microsoft.com/office/powerpoint/2010/main" val="143649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279DE-DFDB-448C-A0BF-E74096A6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A2BC3-26C4-4B04-9269-0A9490F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PAPEL DO MÓDULO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A6ABB-EEA3-46AD-A62F-68012AD1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 ponte entre GitHub e a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322B2-7A80-4385-842C-46DA6400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1A61B-9F7A-404E-8FFE-D9915A7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37EF-839D-4A41-A7D9-D6CC9DD3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56949-9F02-4D2E-9A85-51EA3D6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F5F7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E3A94-CEFB-476B-B8C7-7114F54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E01CE-4551-4E01-ADA0-31B5B83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A4411-46E4-4542-AAA6-8A12FDD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14F3D-6AA3-4061-9730-70C9267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2CCA3-9DAC-4E26-BAE7-7C90366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F385F-4DE2-47A7-89A9-B0516A3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E44A4-B41D-484C-86EB-79F1D45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Demais serviços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529EE-59E8-4421-89EE-F386123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eventos 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F5D95-E43E-406C-BC4A-4B11223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validar • estruturar • sincronizar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271FD-40B6-42F1-8C8E-8BD35F0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dashboards • analytics • 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2BE56-80E9-4D31-AF90-B761DCE4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Uma integração confiável transforma atividade bruta em contexto utilizável.</a:t>
            </a:r>
          </a:p>
        </p:txBody>
      </p:sp>
    </p:spTree>
    <p:extLst>
      <p:ext uri="{BB962C8B-B14F-4D97-AF65-F5344CB8AC3E}">
        <p14:creationId xmlns:p14="http://schemas.microsoft.com/office/powerpoint/2010/main" val="2020729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1E40D-463B-4952-A6AC-5983A618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3A0BB-7E39-43A1-A0CD-D8EB0C96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4215D-981D-4797-807E-6F0AD61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técnico da integração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0EBB-CD86-4AB9-8DD4-659F29C2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EAE24-EFD7-4058-968A-D82DB305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3440-0E31-4834-9238-F38985D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211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EC1B1-C0E7-4F4F-BABF-4635C50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7D4B4-C784-48E6-8A72-8422750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82194-616B-4B10-8147-BB6A5B19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 REST / GraphQL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98422-536E-48FD-9744-6D30FEEE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5E7B9-7BF8-4880-AFF2-DB77014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9BDC0-48B6-4B51-94E0-6553E05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3DF7E-6DE5-4DE6-8FA9-7647BB49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7ECDF-E074-4935-9579-58ABD5A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37D59-76B5-4B80-85FE-7CCA783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4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Repos • commits • PRs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9F6BB-6A22-460A-AC9C-D9C426B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45488-E4D4-47BF-9DEA-67933CBE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56BA3-E9DD-4C6B-8E0E-15BF090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D63CE-00E9-485F-ACF9-C965D21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74D64-6564-4138-AADF-227D751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E4AEA-ACBC-4385-9791-2AA42E8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AE04A-6781-4699-B6ED-DC830D96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A4F70-F64B-41D0-8ED0-DDB7368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2B54A-E109-4B85-BCC2-2CF1668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Sincronização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2FC24-D483-40EA-9E35-F2C6533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04539-D5E3-4588-97B7-96AEF62C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DAF7D-61BA-4B92-8E30-F514F41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 internas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429B4-9B57-43FB-92B4-56F9B39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57920-0417-4A6D-AFA2-E31BEB2B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266D4-7378-4855-A1AA-10CF1C7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+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99156-4909-4526-8FF9-2668F735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Idempotência • retry • logs • documentação • testes</a:t>
            </a:r>
          </a:p>
        </p:txBody>
      </p:sp>
    </p:spTree>
    <p:extLst>
      <p:ext uri="{BB962C8B-B14F-4D97-AF65-F5344CB8AC3E}">
        <p14:creationId xmlns:p14="http://schemas.microsoft.com/office/powerpoint/2010/main" val="784009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F0B7B-12CB-4A44-8046-AEBD8948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F9D47-672A-48A6-8809-9D819960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PERFIS DE USUÁRIO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D6E6C-0311-44BD-B80E-9D9F5E1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Quem usa e quem depende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2E09B-5678-4862-84AD-3769BAF5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6D43-4BF3-47CD-AD5E-1B87CC9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447DA-F083-424B-BA51-3CB30E4F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5F415-DA02-4BE5-978F-E9B4EAF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E43D4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4BCD9-CC64-4E62-B2E3-6114F6CF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FA66B-4B6A-4BF0-87C2-E260B991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Product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891AA-79BA-4696-BA5D-20B68F4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Acompanha valor, escopo e evolução do backlog.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E0812-B8D1-48E8-AFDD-78F71E23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B7083-DAD2-4A4B-9206-C4C91AC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89C23-BBE7-4B90-B136-7A400A6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2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Gerente / Scrum Master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F3FBC-A153-42F8-A317-046D11A1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Observa andamento, dependências e gargalos.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61657-F504-49C2-94CC-8591CED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57C9B-9E8D-4B9A-87DC-CFC6475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AF3E8-33EC-40B5-87EB-BBAF8F3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Desenvolvedor / Aluno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7900D-3A3A-42AA-844B-1FA8764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Gera eventos e recebe retorno sobre o fluxo.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5C2C1-5874-4451-9D0C-358F310C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mesmo dado, três perspectivas de decisão.</a:t>
            </a:r>
          </a:p>
        </p:txBody>
      </p:sp>
    </p:spTree>
    <p:extLst>
      <p:ext uri="{BB962C8B-B14F-4D97-AF65-F5344CB8AC3E}">
        <p14:creationId xmlns:p14="http://schemas.microsoft.com/office/powerpoint/2010/main" val="902033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3F544-0907-4440-B391-25552DD6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A9DFA-D83D-439F-B5BE-DA7CEE80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681AF-B072-4084-B4B1-DFA1B6A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 escopo ao backlog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309F8-9126-49C8-9A32-A8C2376F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FA77B-8892-48E7-849D-777E26B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5DC98-3B2E-414D-8D9F-D826A5D2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f2df68a84de6"/>
          <a:stretch xmlns:a="http://schemas.openxmlformats.org/drawingml/2006/main"/>
        </p:blipFill>
        <p:spPr>
          <a:xfrm xmlns:a="http://schemas.openxmlformats.org/drawingml/2006/main">
            <a:off x="457200" y="1862813"/>
            <a:ext cx="6858000" cy="3608624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A4CA-78F5-4313-8947-01075270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3762375" cy="42862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93415-06C1-4384-B7A9-855BE96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76A97-6EFC-4C55-980E-4E05D71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FBAC7-0567-4C0A-BF09-5DD59BE3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DDD7-CCD4-43AD-825F-3A71C91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69823-0489-4722-ACCA-3192031B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User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54015-7B45-4E31-8CF4-C480099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7 Epics • ~100 histórias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99BC2-DA6F-466C-ABA7-64C3673F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universo do produto ≠ execução simultânea</a:t>
            </a:r>
          </a:p>
        </p:txBody>
      </p:sp>
    </p:spTree>
    <p:extLst>
      <p:ext uri="{BB962C8B-B14F-4D97-AF65-F5344CB8AC3E}">
        <p14:creationId xmlns:p14="http://schemas.microsoft.com/office/powerpoint/2010/main" val="1717474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45EC7-7B0D-4C2A-B68C-9FF6547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FAB22-570F-48EB-9ADA-1E4AA3F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CRONOGRAMA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70C7-28C5-425D-96AB-B849A897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Roadmap e cronograma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BE54E-890A-4A6A-A834-F808CAEE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5B4D-BA71-4C40-A3C6-B32E92D5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2E9D-FB59-400B-BB4A-BCEF91AB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22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62a1300884b22"/>
          <a:stretch xmlns:a="http://schemas.openxmlformats.org/drawingml/2006/main"/>
        </p:blipFill>
        <p:spPr>
          <a:xfrm xmlns:a="http://schemas.openxmlformats.org/drawingml/2006/main">
            <a:off x="457200" y="1700064"/>
            <a:ext cx="7953375" cy="3981747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10465-A5F6-45DB-89AC-1DBED4F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2714625" cy="4286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43457-735B-4F6D-BA2B-66FD524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28 AGO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1A5D6-F348-4B20-9571-80EA5855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7C3A8-E2E6-4FE9-94D3-34C2544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12 NOV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3A2A9-706E-49A2-B2FA-F2FCBB8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~11 semanas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7B79A-4BCD-4F68-9B39-3D4D15CC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Fundação → Webhooks → Sync → IA → Release</a:t>
            </a:r>
          </a:p>
        </p:txBody>
      </p:sp>
    </p:spTree>
    <p:extLst>
      <p:ext uri="{BB962C8B-B14F-4D97-AF65-F5344CB8AC3E}">
        <p14:creationId xmlns:p14="http://schemas.microsoft.com/office/powerpoint/2010/main" val="750114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31296-7671-4013-B7AE-23B39D0D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B7EF-5057-4302-879C-D8086075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PRIORIZAÇÃO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05D78-0D1C-46DA-A862-2174975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Priorização: uma trilha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4742E-FDD4-49A1-8BA8-EC3599F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5BEFE-D747-4B97-BBC3-F024D8F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6E06E-8C09-430D-8F80-86BA34F0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51502-AF0D-4082-953F-BDE3A28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840B-98F4-4C84-8C32-F68DFA6E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1769B-64D0-4879-9245-4526A8F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F80C9-7739-40C1-B32C-798332C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94CF9-021B-492F-8617-4466D5FC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C73BB-EFFE-431E-A229-00DD221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25E9D-35AF-42AD-9618-707C75EB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E6B73-A18B-42D0-AE71-8287A5A2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HMAC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2D350-4B48-4A5B-8239-24471D2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95531-5BA9-42FA-AE04-F6A6E6D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071B0-3CC6-4594-A271-1D5637F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16792-0DF0-4958-A078-848736F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051C4-CABD-4A0E-9720-ADEA044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8F559-8F63-4FB5-8958-D3210D1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514B4-C5DE-4D9F-BAAD-CE22C94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9D1F7-0A78-4E26-BBC2-EA2C865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3FD72-67F8-4D11-8702-7F58CE9F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021BF-478B-49C3-8E5C-EBD4AE58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66DBC-226B-4BCC-8660-D216D2B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BB890-2BD4-4C74-9CFA-0A702DC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Sync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18A36-2F6F-4A62-97D0-B12A5814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F181C-C85D-48D9-9117-DD39650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001D4-C398-456A-946C-C2C38FD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bb0cd199d48f2"/>
          <a:stretch xmlns:a="http://schemas.openxmlformats.org/drawingml/2006/main"/>
        </p:blipFill>
        <p:spPr>
          <a:xfrm xmlns:a="http://schemas.openxmlformats.org/drawingml/2006/main">
            <a:off x="2137136" y="2857500"/>
            <a:ext cx="3212378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46D07-068F-4CA6-BA5A-100D10F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DA094-F53F-422A-B770-94709C4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Trilha de sustentação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8F065E-9715-42F4-A8E4-AF8E2E1E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590DD-1083-4B93-BD5A-15382269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338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Docker + CI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AAA84B-8209-40C1-A677-B7CC284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85FB6-A592-42CE-A27F-CAF16CB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338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Logs + resiliência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83C85E-9B99-4787-9A10-FEBF412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63DA5F-9B23-4248-A89C-A1999F6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005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Swagger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DF1F9-CB8C-4339-910D-5E1C39F0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35B3C-1797-4F34-9D9A-E727972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005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Testes E2E</a:t>
            </a:r>
          </a:p>
        </p:txBody>
      </p:sp>
    </p:spTree>
    <p:extLst>
      <p:ext uri="{BB962C8B-B14F-4D97-AF65-F5344CB8AC3E}">
        <p14:creationId xmlns:p14="http://schemas.microsoft.com/office/powerpoint/2010/main" val="123246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1399D-4819-42FA-8F3C-F943E609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25548-A7CC-4E93-8A8A-BC568DB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GESTÃO DO TRABALHO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254A1-A9ED-4BC3-846E-B3E2A34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Scrum e Kanban: execução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E1C8A-B7FF-4AE9-BA3C-A034EF5F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775AA-852F-45D4-A147-6F63ED4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6AB3F-1294-492C-A1F3-3FF6038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63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30fde05564cfc"/>
          <a:stretch xmlns:a="http://schemas.openxmlformats.org/drawingml/2006/main"/>
        </p:blipFill>
        <p:spPr>
          <a:xfrm xmlns:a="http://schemas.openxmlformats.org/drawingml/2006/main">
            <a:off x="457200" y="1815061"/>
            <a:ext cx="7524750" cy="3751753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757F7-DF17-4B8B-9469-3579CC0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A2F12-ED9B-465C-B960-D6930A8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Scrum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7B703-276B-42C3-BFD8-1FDB4ED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objetivo • prioridade • acompanhamento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0F189-356A-4591-81B1-B7B56F91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Kanban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F3CAD-455D-4665-B437-3A09C75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71875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Backlog → To-Do → Doing → 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0CC2E-BB71-4475-8F5E-7A82BBD3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571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220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987AA-EA50-4950-A59A-32083A2A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Doing: M2-81</a:t>
            </a:r>
          </a:p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health check GitHub</a:t>
            </a:r>
          </a:p>
        </p:txBody>
      </p:sp>
    </p:spTree>
    <p:extLst>
      <p:ext uri="{BB962C8B-B14F-4D97-AF65-F5344CB8AC3E}">
        <p14:creationId xmlns:p14="http://schemas.microsoft.com/office/powerpoint/2010/main" val="1488218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949BF-56DD-4A72-BD0E-498B553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D5850-40F9-4E78-8B34-BB9F4EF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F714E-2684-48E2-A248-CFCE6AEB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Visão geral da integração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E7D81-39B9-4A77-BFBD-DFCF7537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1953-ACE5-46A2-9481-043FE1B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4EB30-D010-478B-9568-63E6AA1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34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9C20-F889-4E17-B9A8-81B8153C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B48A8-2ADB-4155-9899-39AB56D8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6d5cbddb1421c"/>
          <a:stretch xmlns:a="http://schemas.openxmlformats.org/drawingml/2006/main"/>
        </p:blipFill>
        <p:spPr>
          <a:xfrm xmlns:a="http://schemas.openxmlformats.org/drawingml/2006/main">
            <a:off x="1182031" y="1285875"/>
            <a:ext cx="7170463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EB454-A8BE-4930-A825-11553193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F7CBB-ABBD-4720-AD63-36B288A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2E650-DE65-4607-B8D6-EF56E5D7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Visão geral da integração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11EFA-A056-46F1-94B2-293FB0B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Sincronização, cobertura, atividade e diagnóstico em um único fluxo.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3307A-81FD-45D7-B505-1C5B075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730689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184F8-5168-4F13-A15C-40D988A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6337E-D0D2-4F44-B4BF-759406C9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E0B8-FE85-4F9E-ADB4-50B8D38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Conectividade e autenticação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92EA8-3A09-4ADB-A7F7-BF71782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23805-8377-43D3-91C0-92E2129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524B6-3C9D-4474-AB8D-BFA0771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40E44-F373-41E5-960D-E98418C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3AEF-A5EE-4851-80D6-1BE1C74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d64e3f0144a82"/>
          <a:stretch xmlns:a="http://schemas.openxmlformats.org/drawingml/2006/main"/>
        </p:blipFill>
        <p:spPr>
          <a:xfrm xmlns:a="http://schemas.openxmlformats.org/drawingml/2006/main">
            <a:off x="1188130" y="1285875"/>
            <a:ext cx="7158265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FB72-EDE5-4F64-94C9-5DA97668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925A-9950-4C6C-9999-45639CA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47651-BF4E-4BD3-9375-79AAB679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Conectividade e autenticação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C4849-A744-49CF-B8D7-A641828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Credenciais, permissões, rotação e auditoria visíveis.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81932-A4CC-410D-8C67-DC8EB20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3149012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7F36B-E891-4A7E-80D4-9AE90D9E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4AC0D-2142-4360-B2D8-FF16CAA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45981-798B-49E8-AF71-1C66FDCC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 em tempo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BEEB6-DD07-4D4F-A5D0-569D9B39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88E08-2CBA-4DE8-8006-EC58D6AC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CE7E-7CFE-41E2-A2CC-D558B492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75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23E26-F229-482B-8353-076283E5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966B4-480F-4D6A-9F2C-72F00F88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d5a34f9a84f3a"/>
          <a:stretch xmlns:a="http://schemas.openxmlformats.org/drawingml/2006/main"/>
        </p:blipFill>
        <p:spPr>
          <a:xfrm xmlns:a="http://schemas.openxmlformats.org/drawingml/2006/main">
            <a:off x="1204120" y="1285875"/>
            <a:ext cx="7126285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495E4-2CAA-4551-B7D3-BD55B56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6F881-A149-44B9-AD43-2DDEF52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FE65A-426F-4478-9BD3-9974592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 em tempo real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0F7B1-7DCD-4D33-A023-74C19CB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Receber, validar, enfileirar, persistir e inspecionar eventos.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19FAC-E427-49E1-9E3D-B1D88A3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284693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A6573-CBCB-4F93-8239-630D966E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69C2C-D97A-47C0-B999-3CE56C3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536B8-D3D4-49EA-8001-E6F5DD7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Indexação e sincronização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1C49D-65C3-4EC0-9AC6-BE8E2AD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B63BF-8F4D-4BFE-A81B-E7454AA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76E64-A092-4C73-B4CC-B9770E7B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845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64AF0-5B4C-489E-8908-FFE8619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FF1A2-79F7-4790-A7FE-4411BD5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c1664b9f543cb"/>
          <a:stretch xmlns:a="http://schemas.openxmlformats.org/drawingml/2006/main"/>
        </p:blipFill>
        <p:spPr>
          <a:xfrm xmlns:a="http://schemas.openxmlformats.org/drawingml/2006/main">
            <a:off x="1211896" y="1285875"/>
            <a:ext cx="7110733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8F8EB-5520-4A71-A26A-82BE5E83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0D4DA-2BAE-4C37-A017-F3AF2D8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51A62-59B7-4265-A2E2-ADF0935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Indexação e sincronização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E2F16-33D0-439C-B7CE-582076CE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Carga histórica, delta sync e vínculo de contribuidores.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72692-4098-4A3E-9EF1-E26479E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3519579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30323-438E-4B03-9A7A-25C26AA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72F33-D49D-498E-9226-3FDA9C3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CE34C-464B-427A-A394-C3F88F0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e diagnóstico de gargalos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F3960-1B67-499A-8B95-199625A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55CFA-9D87-4736-B8C5-D1339E01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84AAB-90CC-46FC-A1E1-95C5202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36797-EFAA-4518-A483-901AF3D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7DBAB-034D-4AE6-BA2D-298D323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2f5d9009c4e1a"/>
          <a:stretch xmlns:a="http://schemas.openxmlformats.org/drawingml/2006/main"/>
        </p:blipFill>
        <p:spPr>
          <a:xfrm xmlns:a="http://schemas.openxmlformats.org/drawingml/2006/main">
            <a:off x="1223729" y="1285875"/>
            <a:ext cx="7087066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CBE86-C8A4-4651-9DF6-5245DF32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E43D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92D94-1EAA-46BB-A227-A9C68CBA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FB0D1-179A-4E08-B81D-2583E9B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e diagnóstico de gargalos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E6C8D-9468-4A68-A9F6-B1E17F4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Indicadores de fluxo para melhoria sistêmica, não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67C19-48EC-49A9-A758-774E3462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884229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C465A-09B2-4BD1-BA94-4412B0C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4B617-CA64-4204-A660-7A001D6D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6F10B-A269-4BA1-A81E-6762FA6B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Assistente de IA com supervisão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569B-6824-4AC9-930E-7F05A3F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FC5D2-267A-451A-BE2E-851E11D1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80AD8-F239-4665-95B8-8389507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86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B1841-8BD2-4C84-961B-244C8A2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D7CC3-EC7A-490D-A441-87054B7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699b18c7142ce"/>
          <a:stretch xmlns:a="http://schemas.openxmlformats.org/drawingml/2006/main"/>
        </p:blipFill>
        <p:spPr>
          <a:xfrm xmlns:a="http://schemas.openxmlformats.org/drawingml/2006/main">
            <a:off x="1207579" y="1285875"/>
            <a:ext cx="7119367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77B37-8E3E-476A-B3FB-2251E8C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C7A81-C87B-4CBE-B7FD-4B7245BE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8188F-B310-43AE-A01F-5553269F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Assistente de IA com supervisão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9E746-2525-4921-9FAF-D0FC822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Sugestões revisáveis, contexto verificável e trilha de auditoria.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20BA9-8EDF-4AA5-ADA3-8055554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470547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5C395-5A4F-41CA-A62C-62F790C8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BD33D-85A5-4247-99A4-27C5BCB5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2BEAA-3FA4-41E2-9A16-45BD798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DevOps, qualidade e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8BF4D-B2A1-4688-9B9C-0F5F58E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DC5CD-861C-466D-A45A-51E3627E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2C83D-7EED-4BCE-B93A-ACEE050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14FE6-0761-454D-93C2-5548D1FE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4BDC-415E-4921-BACF-3B439B88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add5f4e114f20"/>
          <a:stretch xmlns:a="http://schemas.openxmlformats.org/drawingml/2006/main"/>
        </p:blipFill>
        <p:spPr>
          <a:xfrm xmlns:a="http://schemas.openxmlformats.org/drawingml/2006/main">
            <a:off x="1167909" y="1285875"/>
            <a:ext cx="7198707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A3448-F956-48D2-801F-D9D3FBA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40535-945F-4CE4-961F-164186B5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50D4D-2EE6-413F-9AB5-002DEB6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DevOps, qualidade e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FB8C7-FE6B-43A2-AA4B-36582977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CI/CD, testes, segurança, documentação e governança.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B66F9-20EA-459D-B9A3-3D5754B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795726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42BD2-5A0C-4CBE-893B-B668D07D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2890A-D78C-42C9-920E-BDF4D67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ENCERRAMENTO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9EB0C-5ECD-465A-9FBA-A185537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Estado atual e próximos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DA17E-BAAB-43B7-A5E4-5C762856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C02CB-E044-4EB9-8FF6-FBA3E33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45C15-36DD-4A61-9A58-80EBFDB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D9B12-D9B1-4CF7-8708-4263779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9F3DD-8514-491E-9F4C-4F4AB613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JÁ ESTRUTURADO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C3231-CE22-4779-93E1-F611397F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e perfis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Backlog e priorização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Cronograma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Scrum e Kanban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B19A2-DBF9-446E-8900-6C31829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79705-60DA-44D8-9EAC-FDCA03A6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02951-4268-4D15-834B-2A61005A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Implementar trilha end-to-end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Consolidar MVP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Integrar microsserviços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Ampliar testes e CI/CD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Preparar o primeiro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DACA1-20A5-4069-8725-A23F346A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Planejamento validado. Implementação em andamento.</a:t>
            </a:r>
          </a:p>
        </p:txBody>
      </p:sp>
    </p:spTree>
    <p:extLst>
      <p:ext uri="{BB962C8B-B14F-4D97-AF65-F5344CB8AC3E}">
        <p14:creationId xmlns:p14="http://schemas.microsoft.com/office/powerpoint/2010/main" val="2017015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2026-10-02T19:13:33.2160000Z</dcterms:created>
  <dcterms:modified xsi:type="dcterms:W3CDTF">2026-10-02T19:13:33.2160000Z</dcterms:modified>
</coreProperties>
</file>