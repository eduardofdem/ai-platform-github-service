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8a3c7c92b242d9" /><Relationship Type="http://schemas.openxmlformats.org/officeDocument/2006/relationships/extended-properties" Target="/docProps/app.xml" Id="R9c9c1a68f8e241cc" /><Relationship Type="http://schemas.openxmlformats.org/officeDocument/2006/relationships/officeDocument" Target="/ppt/presentation.xml" Id="Rbad038e257b34c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93471009074649"/>
  </p:sldMasterIdLst>
  <p:notesMasterIdLst>
    <p:notesMasterId xmlns:r="http://schemas.openxmlformats.org/officeDocument/2006/relationships" r:id="R7b20d854230645ec"/>
  </p:notesMasterIdLst>
  <p:sldIdLst>
    <p:sldId xmlns:r="http://schemas.openxmlformats.org/officeDocument/2006/relationships" id="256" r:id="R6b462cddd532412f"/>
    <p:sldId xmlns:r="http://schemas.openxmlformats.org/officeDocument/2006/relationships" id="257" r:id="Raf12d099dd3c4712"/>
    <p:sldId xmlns:r="http://schemas.openxmlformats.org/officeDocument/2006/relationships" id="258" r:id="R95846f3caf2443c5"/>
    <p:sldId xmlns:r="http://schemas.openxmlformats.org/officeDocument/2006/relationships" id="259" r:id="R462f85f234604748"/>
    <p:sldId xmlns:r="http://schemas.openxmlformats.org/officeDocument/2006/relationships" id="260" r:id="R8b3993d9746a46cf"/>
    <p:sldId xmlns:r="http://schemas.openxmlformats.org/officeDocument/2006/relationships" id="261" r:id="R33e8efc1b23a4253"/>
    <p:sldId xmlns:r="http://schemas.openxmlformats.org/officeDocument/2006/relationships" id="262" r:id="R8c9267500f5d4890"/>
    <p:sldId xmlns:r="http://schemas.openxmlformats.org/officeDocument/2006/relationships" id="263" r:id="R2426c8c03e244a91"/>
    <p:sldId xmlns:r="http://schemas.openxmlformats.org/officeDocument/2006/relationships" id="264" r:id="R9ee8fac879384d53"/>
    <p:sldId xmlns:r="http://schemas.openxmlformats.org/officeDocument/2006/relationships" id="265" r:id="R6943e73dc8e04a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0d557e7f354de3" /><Relationship Type="http://schemas.openxmlformats.org/officeDocument/2006/relationships/slideMaster" Target="/ppt/slideMasters/slideMaster1.xml" Id="R9093471009074649" /><Relationship Type="http://schemas.openxmlformats.org/officeDocument/2006/relationships/notesMaster" Target="/ppt/notesMasters/notesMaster1.xml" Id="R7b20d854230645ec" /><Relationship Type="http://schemas.openxmlformats.org/officeDocument/2006/relationships/presProps" Target="/ppt/presProps.xml" Id="Rb8e59e0bd04e45b8" /><Relationship Type="http://schemas.openxmlformats.org/officeDocument/2006/relationships/tableStyles" Target="/ppt/tableStyles.xml" Id="R36ba810dd5d944ab" /><Relationship Type="http://schemas.openxmlformats.org/officeDocument/2006/relationships/slide" Target="/ppt/slides/slide1.xml" Id="R6b462cddd532412f" /><Relationship Type="http://schemas.openxmlformats.org/officeDocument/2006/relationships/slide" Target="/ppt/slides/slide2.xml" Id="Raf12d099dd3c4712" /><Relationship Type="http://schemas.openxmlformats.org/officeDocument/2006/relationships/slide" Target="/ppt/slides/slide3.xml" Id="R95846f3caf2443c5" /><Relationship Type="http://schemas.openxmlformats.org/officeDocument/2006/relationships/slide" Target="/ppt/slides/slide4.xml" Id="R462f85f234604748" /><Relationship Type="http://schemas.openxmlformats.org/officeDocument/2006/relationships/slide" Target="/ppt/slides/slide5.xml" Id="R8b3993d9746a46cf" /><Relationship Type="http://schemas.openxmlformats.org/officeDocument/2006/relationships/slide" Target="/ppt/slides/slide6.xml" Id="R33e8efc1b23a4253" /><Relationship Type="http://schemas.openxmlformats.org/officeDocument/2006/relationships/slide" Target="/ppt/slides/slide7.xml" Id="R8c9267500f5d4890" /><Relationship Type="http://schemas.openxmlformats.org/officeDocument/2006/relationships/slide" Target="/ppt/slides/slide8.xml" Id="R2426c8c03e244a91" /><Relationship Type="http://schemas.openxmlformats.org/officeDocument/2006/relationships/slide" Target="/ppt/slides/slide9.xml" Id="R9ee8fac879384d53" /><Relationship Type="http://schemas.openxmlformats.org/officeDocument/2006/relationships/slide" Target="/ppt/slides/slide10.xml" Id="R6943e73dc8e04a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658b2cf83a4c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91950d047a4f50" /><Relationship Type="http://schemas.openxmlformats.org/officeDocument/2006/relationships/notesMaster" Target="/ppt/notesMasters/notesMaster1.xml" Id="R83d26e1075c14d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deef4cbb9646c7" /><Relationship Type="http://schemas.openxmlformats.org/officeDocument/2006/relationships/notesMaster" Target="/ppt/notesMasters/notesMaster1.xml" Id="R896cfa4d70884f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d8d2deea7c4606" /><Relationship Type="http://schemas.openxmlformats.org/officeDocument/2006/relationships/notesMaster" Target="/ppt/notesMasters/notesMaster1.xml" Id="R6fef778349c147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5056af5ddc46ed" /><Relationship Type="http://schemas.openxmlformats.org/officeDocument/2006/relationships/notesMaster" Target="/ppt/notesMasters/notesMaster1.xml" Id="Rc2b8dce5dd5f4c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f0685775de4649" /><Relationship Type="http://schemas.openxmlformats.org/officeDocument/2006/relationships/notesMaster" Target="/ppt/notesMasters/notesMaster1.xml" Id="R779cebd98fbd42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d2eaf6f6b84b0a" /><Relationship Type="http://schemas.openxmlformats.org/officeDocument/2006/relationships/notesMaster" Target="/ppt/notesMasters/notesMaster1.xml" Id="R14487b4455d241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a239c112044a33" /><Relationship Type="http://schemas.openxmlformats.org/officeDocument/2006/relationships/notesMaster" Target="/ppt/notesMasters/notesMaster1.xml" Id="Rf49bcb497ca147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d53665b77f4b1d" /><Relationship Type="http://schemas.openxmlformats.org/officeDocument/2006/relationships/notesMaster" Target="/ppt/notesMasters/notesMaster1.xml" Id="R4667132c2f2844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95d97635934cae" /><Relationship Type="http://schemas.openxmlformats.org/officeDocument/2006/relationships/notesMaster" Target="/ppt/notesMasters/notesMaster1.xml" Id="Rae582ac351c842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8b8952ea194597" /><Relationship Type="http://schemas.openxmlformats.org/officeDocument/2006/relationships/notesMaster" Target="/ppt/notesMasters/notesMaster1.xml" Id="R672b6335e5fb42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0:35</a:t>
            </a:r>
          </a:p>
          <a:p xmlns:a="http://schemas.openxmlformats.org/drawingml/2006/main">
            <a:r>
              <a:t>Mensagem principal: apresentar o grupo e posicionar o Módulo 2.</a:t>
            </a:r>
          </a:p>
          <a:p xmlns:a="http://schemas.openxmlformats.org/drawingml/2006/main">
            <a:r>
              <a:t>Fala sugerida: Somos o grupo responsável pelo Módulo 2 da plataforma de Assistente Inteligente de Engenharia de Software. Nosso trabalho conecta a atividade real no GitHub à plataforma, para que os outros módulos possam consumir dados organizados e gerar análises. Hoje vamos mostrar o escopo, o planejamento e o que já estruturamos para começar a implementação.</a:t>
            </a:r>
          </a:p>
          <a:p xmlns:a="http://schemas.openxmlformats.org/drawingml/2006/main">
            <a:r>
              <a:t>Fontes: PROMPT_DEFINITIVO.md; CONTEXTO.md; references/04-instrucoes-ap1.png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0:40</a:t>
            </a:r>
          </a:p>
          <a:p xmlns:a="http://schemas.openxmlformats.org/drawingml/2006/main">
            <a:r>
              <a:t>Mensagem principal: explicar onde o Módulo 2 entra.</a:t>
            </a:r>
          </a:p>
          <a:p xmlns:a="http://schemas.openxmlformats.org/drawingml/2006/main">
            <a:r>
              <a:t>Fala sugerida: A ideia central é simples. O GitHub concentra commits, branches, pull requests e eventos. O nosso módulo recebe esses sinais, valida, organiza e sincroniza os dados. Depois, disponibiliza essa informação para os demais microsserviços e para as experiências da plataforma, como dashboards, relatórios e recursos de IA.</a:t>
            </a:r>
          </a:p>
          <a:p xmlns:a="http://schemas.openxmlformats.org/drawingml/2006/main">
            <a:r>
              <a:t>Fontes: references/01-projeto-oficial-microsservicos.pdf, módulo 2; CONTEXTO.md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0:45</a:t>
            </a:r>
          </a:p>
          <a:p xmlns:a="http://schemas.openxmlformats.org/drawingml/2006/main">
            <a:r>
              <a:t>Mensagem principal: resumir o perímetro técnico sem transformar o slide em aula.</a:t>
            </a:r>
          </a:p>
          <a:p xmlns:a="http://schemas.openxmlformats.org/drawingml/2006/main">
            <a:r>
              <a:t>Fala sugerida: O fluxo começa com as APIs REST e GraphQL e com a autenticação. Depois entram os webhooks e os dados de repositórios, branches, commits e pull requests. O núcleo persiste e sincroniza essas informações. Na saída, outros módulos consultam APIs e usam os dados em analytics ou IA. A robustez acompanha o fluxo inteiro, com idempotência, retry, logs, documentação e testes.</a:t>
            </a:r>
          </a:p>
          <a:p xmlns:a="http://schemas.openxmlformats.org/drawingml/2006/main">
            <a:r>
              <a:t>Fontes: references/01-projeto-oficial-microsservicos.pdf; CONTEXTO.md; assets/04-kanban-prioridades-1.png; assets/05-kanban-prioridades-2.png; assets/06-kanban-prioridades-3.png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0:40</a:t>
            </a:r>
          </a:p>
          <a:p xmlns:a="http://schemas.openxmlformats.org/drawingml/2006/main">
            <a:r>
              <a:t>Mensagem principal: mostrar quem usa ou depende do módulo.</a:t>
            </a:r>
          </a:p>
          <a:p xmlns:a="http://schemas.openxmlformats.org/drawingml/2006/main">
            <a:r>
              <a:t>Fala sugerida: O Product Owner acompanha se o backlog e as entregas continuam alinhados ao escopo. O gerente ou Scrum Master observa o andamento e possíveis gargalos. Já o desenvolvedor produz os eventos que o módulo captura e recebe retorno sobre o fluxo de trabalho. O mesmo dado atende necessidades diferentes.</a:t>
            </a:r>
          </a:p>
          <a:p xmlns:a="http://schemas.openxmlformats.org/drawingml/2006/main">
            <a:r>
              <a:t>Fontes: references/01-projeto-oficial-microsservicos.pdf, perfis de usuários; CONTEXTO.md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0:50</a:t>
            </a:r>
          </a:p>
          <a:p xmlns:a="http://schemas.openxmlformats.org/drawingml/2006/main">
            <a:r>
              <a:t>Mensagem principal: explicar como o escopo virou uma estrutura gerenciável.</a:t>
            </a:r>
          </a:p>
          <a:p xmlns:a="http://schemas.openxmlformats.org/drawingml/2006/main">
            <a:r>
              <a:t>Fala sugerida: No YouTrack, organizamos o trabalho em Epic, Feature e User Story. Os sete Epics cobrem planejamento, conectividade, webhooks, persistência, IA, DevOps e integração final. O levantamento chegou a aproximadamente cem histórias. Esse número representa o universo do produto, e não uma promessa de implementação simultânea.</a:t>
            </a:r>
          </a:p>
          <a:p xmlns:a="http://schemas.openxmlformats.org/drawingml/2006/main">
            <a:r>
              <a:t>Fontes: CONTEXTO.md; assets/02-gantt-hierarquia.png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0:45</a:t>
            </a:r>
          </a:p>
          <a:p xmlns:a="http://schemas.openxmlformats.org/drawingml/2006/main">
            <a:r>
              <a:t>Mensagem principal: situar a execução ao longo do semestre.</a:t>
            </a:r>
          </a:p>
          <a:p xmlns:a="http://schemas.openxmlformats.org/drawingml/2006/main">
            <a:r>
              <a:t>Fala sugerida: O cronograma vai de 28 de agosto a 12 de novembro, cerca de onze semanas. Ele começa pela definição de escopo e pela fundação do GitHub, avança por webhooks e sincronização, e depois incorpora analytics, DevOps, observabilidade e integração final. O Gantt registra dependências e dá visibilidade ao caminho até o release.</a:t>
            </a:r>
          </a:p>
          <a:p xmlns:a="http://schemas.openxmlformats.org/drawingml/2006/main">
            <a:r>
              <a:t>Fontes: CONTEXTO.md; assets/01-gantt-overview.png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0:55</a:t>
            </a:r>
          </a:p>
          <a:p xmlns:a="http://schemas.openxmlformats.org/drawingml/2006/main">
            <a:r>
              <a:t>Mensagem principal: mostrar a redução de escopo para uma trilha funcional.</a:t>
            </a:r>
          </a:p>
          <a:p xmlns:a="http://schemas.openxmlformats.org/drawingml/2006/main">
            <a:r>
              <a:t>Fala sugerida: Para sair de cerca de cem histórias e chegar a uma implementação viável, escolhemos uma trilha end-to-end. Ela começa no handshake com o GitHub, passa por webhook, assinatura HMAC, commits, idempotência, persistência e sincronização. Depois expõe APIs e prepara analytics e IA. Em paralelo, as histórias de Docker, CI, logs, resiliência, Swagger e E2E sustentam a entrega.</a:t>
            </a:r>
          </a:p>
          <a:p xmlns:a="http://schemas.openxmlformats.org/drawingml/2006/main">
            <a:r>
              <a:t>Fontes: CONTEXTO.md; assets/04-kanban-prioridades-1.png; assets/05-kanban-prioridades-2.png; assets/06-kanban-prioridades-3.png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0:50</a:t>
            </a:r>
          </a:p>
          <a:p xmlns:a="http://schemas.openxmlformats.org/drawingml/2006/main">
            <a:r>
              <a:t>Mensagem principal: apresentar o fluxo de trabalho e o item em andamento.</a:t>
            </a:r>
          </a:p>
          <a:p xmlns:a="http://schemas.openxmlformats.org/drawingml/2006/main">
            <a:r>
              <a:t>Fala sugerida: O board usa o fluxo Backlog, To-Do, Doing e Done. O Backlog ainda mostra o universo planejado, inclusive Epics e Features. A coluna To-Do concentra as histórias que priorizamos. No momento do registro desta evidência, a história em Doing era a M2-81, responsável pelo health check de conectividade com o GitHub e pela medição de latência e status.</a:t>
            </a:r>
          </a:p>
          <a:p xmlns:a="http://schemas.openxmlformats.org/drawingml/2006/main">
            <a:r>
              <a:t>Fontes: CONTEXTO.md; assets/03-kanban-overview.png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0:35</a:t>
            </a:r>
          </a:p>
          <a:p xmlns:a="http://schemas.openxmlformats.org/drawingml/2006/main">
            <a:r>
              <a:t>Mensagem principal: registrar o protótipo como pendência real, sem simular telas.</a:t>
            </a:r>
          </a:p>
          <a:p xmlns:a="http://schemas.openxmlformats.org/drawingml/2006/main">
            <a:r>
              <a:t>Fala sugerida: O projeto prevê um protótipo no Figma para demonstrar a experiência, mas os assets ainda não foram incluídos nesta pasta. Por isso, mantivemos um placeholder explícito. Antes da apresentação, vamos substituir esta área pelas telas reais. Mesmo depois dessa troca, o Figma deve ser apresentado como protótipo ou prova de conceito, e não como MVP funcional.</a:t>
            </a:r>
          </a:p>
          <a:p xmlns:a="http://schemas.openxmlformats.org/drawingml/2006/main">
            <a:r>
              <a:t>Fontes: CONTEXTO.md; PROMPT_DEFINITIVO.md; references/04-instrucoes-ap1.png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0:45</a:t>
            </a:r>
          </a:p>
          <a:p xmlns:a="http://schemas.openxmlformats.org/drawingml/2006/main">
            <a:r>
              <a:t>Mensagem principal: fechar com um retrato honesto do estágio do projeto.</a:t>
            </a:r>
          </a:p>
          <a:p xmlns:a="http://schemas.openxmlformats.org/drawingml/2006/main">
            <a:r>
              <a:t>Fala sugerida: Até aqui, estruturamos o escopo, os perfis, o backlog, o cronograma, o Kanban e a trilha prioritária. A implementação end-to-end ainda está em andamento. Os próximos passos são consolidar o MVP, preparar o primeiro deploy, automatizar CI/CD, ampliar os testes e integrar o serviço aos outros módulos. Esta AP1 registra o ponto atual, sem apresentar planejamento como código concluído.</a:t>
            </a:r>
          </a:p>
          <a:p xmlns:a="http://schemas.openxmlformats.org/drawingml/2006/main">
            <a:r>
              <a:t>Fontes: CONTEXTO.md; references/01-projeto-oficial-microsservicos.pdf; assets/01-gantt-overview.png; assets/03-kanban-overview.png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7274d5cd849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47b2d91960440d" /><Relationship Type="http://schemas.openxmlformats.org/officeDocument/2006/relationships/slideLayout" Target="/ppt/slideLayouts/slideLayout1.xml" Id="R3ac23e61189245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c23e61189245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e1c2df71b41df" /><Relationship Type="http://schemas.openxmlformats.org/officeDocument/2006/relationships/notesSlide" Target="/ppt/notesSlides/notesSlide1.xml" Id="R0ba87837412b42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9b4ad9b574328" /><Relationship Type="http://schemas.openxmlformats.org/officeDocument/2006/relationships/notesSlide" Target="/ppt/notesSlides/notesSlide2.xml" Id="R3b42de07aec64b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37d3681e84ceb" /><Relationship Type="http://schemas.openxmlformats.org/officeDocument/2006/relationships/notesSlide" Target="/ppt/notesSlides/notesSlide3.xml" Id="Ra861357ee9df4e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a76332bb74e7a" /><Relationship Type="http://schemas.openxmlformats.org/officeDocument/2006/relationships/notesSlide" Target="/ppt/notesSlides/notesSlide4.xml" Id="Ra985e14233bb4c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0c154d1824721" /><Relationship Type="http://schemas.openxmlformats.org/officeDocument/2006/relationships/image" Target="/ppt/media/image.png" Id="R8cced498bdc54a02" /><Relationship Type="http://schemas.openxmlformats.org/officeDocument/2006/relationships/notesSlide" Target="/ppt/notesSlides/notesSlide5.xml" Id="R6aa35976617945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71b03712248a3" /><Relationship Type="http://schemas.openxmlformats.org/officeDocument/2006/relationships/image" Target="/ppt/media/image2.png" Id="R87e1315e1ef947d3" /><Relationship Type="http://schemas.openxmlformats.org/officeDocument/2006/relationships/notesSlide" Target="/ppt/notesSlides/notesSlide6.xml" Id="R3d723bb0091941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94565017c4483" /><Relationship Type="http://schemas.openxmlformats.org/officeDocument/2006/relationships/image" Target="/ppt/media/image3.png" Id="R18ef2abe7c404b07" /><Relationship Type="http://schemas.openxmlformats.org/officeDocument/2006/relationships/image" Target="/ppt/media/image4.png" Id="R94ee67df3d3f4294" /><Relationship Type="http://schemas.openxmlformats.org/officeDocument/2006/relationships/image" Target="/ppt/media/image5.png" Id="Re2aaab06406c458b" /><Relationship Type="http://schemas.openxmlformats.org/officeDocument/2006/relationships/notesSlide" Target="/ppt/notesSlides/notesSlide7.xml" Id="R574ba77eff494c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653b685f64b14" /><Relationship Type="http://schemas.openxmlformats.org/officeDocument/2006/relationships/image" Target="/ppt/media/image6.png" Id="Rb9a3cb7136b64380" /><Relationship Type="http://schemas.openxmlformats.org/officeDocument/2006/relationships/notesSlide" Target="/ppt/notesSlides/notesSlide8.xml" Id="R4c2fa8a2c7794b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01c1812bd4b79" /><Relationship Type="http://schemas.openxmlformats.org/officeDocument/2006/relationships/notesSlide" Target="/ppt/notesSlides/notesSlide9.xml" Id="R3bcbca60b26c4b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bfc517d5240d5" /><Relationship Type="http://schemas.openxmlformats.org/officeDocument/2006/relationships/notesSlide" Target="/ppt/notesSlides/notesSlide10.xml" Id="R2b9f419ab6304d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414DA-1F34-4EDA-9F68-0E42E37A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F4E10-2144-4790-99C4-72CE4BF5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7700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35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1F22A-1CA8-4444-8D64-6D3AF27D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AP1  ·  ENGENHARIA DE SOFTWARE  · 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2762D-768A-449A-A6FD-634856BF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Módulo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F8CAA-CA1D-492D-97CD-469C687C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790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Integração e Sincronização</a:t>
            </a:r>
          </a:p>
          <a:p xmlns:a="http://schemas.openxmlformats.org/drawingml/2006/main">
            <a:pPr algn="l">
              <a:defRPr sz="4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com GitHub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3DC03-B7C1-459B-AA46-DF1E354B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Assistente Inteligente de Engenharia de Software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4ED47-1CCA-45EF-BA27-4CFFA6A4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2762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F2842-A877-496F-B5A6-172A1CD6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Pedro Cavalcante  ·  Henrique Ribeiro  ·  Eduardo Ferreira de Mattos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557F2-3AC7-4832-AF60-50167977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Universidade Presbiteriana Mackenzie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F534E-340E-4F0C-8C3C-1B3DBF11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43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AB3C2"/>
                </a:solidFill>
                <a:latin typeface="Arial"/>
                <a:ea typeface="Arial"/>
                <a:cs typeface="Arial"/>
              </a:rPr>
              <a:t>02/10/2026</a:t>
            </a:r>
          </a:p>
        </p:txBody>
      </p:sp>
    </p:spTree>
    <p:extLst>
      <p:ext uri="{BB962C8B-B14F-4D97-AF65-F5344CB8AC3E}">
        <p14:creationId xmlns:p14="http://schemas.microsoft.com/office/powerpoint/2010/main" val="2931699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CFCF0-D6F8-4385-AC40-B33D0E43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B4F1B-DDB6-4B7F-8C1F-90A0455D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MÓDULO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CAC8F-8336-465A-B45F-7AC0E9A5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Papel do Módulo 2 na plataforma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F57F6-5B21-4FAF-BCA8-2028F5F1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2C574-3F9C-432E-92B6-0A294FF4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AB3C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22092-FEFB-44FE-9DBE-3C27486E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A ponte entre a atividade real dos desenvolvedores e a inteligência da plataforma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BF544-70E2-4A81-BE2C-25F08B00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28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1263A-778B-4F89-AF14-FD4C9704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39052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Módulo 2</a:t>
            </a:r>
          </a:p>
          <a:p xmlns:a="http://schemas.openxmlformats.org/drawingml/2006/main">
            <a:pPr algn="ctr">
              <a:defRPr sz="22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integra e sincroniza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86DC5-1C56-4D87-8B63-28CF032F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23812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1C2230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Demais módulos</a:t>
            </a:r>
          </a:p>
          <a:p xmlns:a="http://schemas.openxmlformats.org/drawingml/2006/main">
            <a:pPr algn="ctr"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 experiência da plataforma</a:t>
            </a:r>
          </a:p>
        </p:txBody>
      </p:sp>
      <p:cxnSp>
        <p:nvCxnSpPr>
          <p:cNvPr id="25" name="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2971800" y="31908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4D57"/>
            </a:solidFill>
            <a:prstDash val="solid"/>
            <a:head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001000" y="31908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8D5E8"/>
            </a:solidFill>
            <a:prstDash val="solid"/>
            <a:head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A3B3E-DF4A-45FB-BC84-E88A1286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recebe eventos e dados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A5C85-B83D-4526-997A-74CA5F94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862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estrutura · persiste · expõe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15BC5-0D06-4051-A2D8-B46D3AE2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consulta · métricas · 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3FE77-E503-4F13-8C95-FC2B4D9A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02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 módulo transforma sinais dispersos do GitHub em informação reutilizável por toda a solução.</a:t>
            </a:r>
          </a:p>
        </p:txBody>
      </p:sp>
    </p:spTree>
    <p:extLst>
      <p:ext uri="{BB962C8B-B14F-4D97-AF65-F5344CB8AC3E}">
        <p14:creationId xmlns:p14="http://schemas.microsoft.com/office/powerpoint/2010/main" val="1432664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D1E95C-AD7A-4802-B714-20FB1B03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D8D58-AC56-43E8-96F9-5D749A98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MÓDULO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83AD3-7679-4070-9B7B-B813303A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Escopo técnico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E76F0-D90B-4685-A3C1-158A582A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85979-FB9C-4924-8F7C-E2F79D9D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AB3C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13782-F97C-4DBC-8B02-0996AD8B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Fluxo compacto do dado, da origem ao consumo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037C9-95FA-4D44-B431-FADE60F1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195262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41924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967A8-999A-46B9-AAF1-DE147D01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F1301-076A-4087-A198-AD2A3A5B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647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GitHub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21CC0-EF52-41AD-B76C-F07925AF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REST · GraphQL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0783D-2097-4EA4-BE2C-997891B9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95262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41924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69979-39AF-4812-BD15-79D830E4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D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6D8FF-9C65-441A-B584-42931568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1647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Conexão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F8F84-79F0-44E4-B613-2FD8BEA4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autenticação</a:t>
            </a:r>
          </a:p>
        </p:txBody>
      </p:sp>
      <p:cxnSp>
        <p:nvCxnSpPr>
          <p:cNvPr id="47" name="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2447925" y="328612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3849"/>
            </a:solidFill>
            <a:prstDash val="solid"/>
            <a:head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0D29D-20C8-4CB8-A900-4E3BC080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195262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41924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7FA03-ABEA-45D0-8B14-E60CBBD5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CBEDF-91D7-4275-833E-AE41F4E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57500"/>
            <a:ext cx="1647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Eventos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CECCB-7CC9-4BB7-8B73-E9B585AA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webhooks · commits · PRs</a:t>
            </a:r>
          </a:p>
        </p:txBody>
      </p:sp>
      <p:cxnSp>
        <p:nvCxnSpPr>
          <p:cNvPr id="52" name=""/>
          <p:cNvCxnSpPr>
            <a:stCxn xmlns:a="http://schemas.openxmlformats.org/drawingml/2006/main" id="16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772025" y="328612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3849"/>
            </a:solidFill>
            <a:prstDash val="solid"/>
            <a:head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BCECA2-BA73-4B2D-85DA-A070533C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76500"/>
            <a:ext cx="195262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41924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6BF37-2FCB-4E42-86EC-8A6C8EC8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7650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87994-D88A-411F-A14C-8F252383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647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Núcleo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3741F-9D84-47AB-A584-0EB43722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1470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persistência · sincronização</a:t>
            </a:r>
          </a:p>
        </p:txBody>
      </p:sp>
      <p:cxnSp>
        <p:nvCxnSpPr>
          <p:cNvPr id="57" name=""/>
          <p:cNvCxnSpPr>
            <a:stCxn xmlns:a="http://schemas.openxmlformats.org/drawingml/2006/main" id="21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096125" y="328612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3849"/>
            </a:solidFill>
            <a:prstDash val="solid"/>
            <a:head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A2672A-BA9D-41BC-8055-0DA8EC8E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195262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41924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C63AAB-539E-4F9D-B0EF-E01E991A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9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4E4E00-1884-4444-96C6-1FAC7CCE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57500"/>
            <a:ext cx="1647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Consumo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F59B3-ABAE-47CB-A0F8-F6A8B509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1470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APIs · analytics · IA</a:t>
            </a:r>
          </a:p>
        </p:txBody>
      </p:sp>
      <p:cxnSp>
        <p:nvCxnSpPr>
          <p:cNvPr id="62" name=""/>
          <p:cNvCxnSpPr>
            <a:stCxn xmlns:a="http://schemas.openxmlformats.org/drawingml/2006/main" id="26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9420225" y="328612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3849"/>
            </a:solidFill>
            <a:prstDash val="solid"/>
            <a:head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6FB303-483D-44D6-A227-97D165D7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Robustez transversal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E4B661-316F-47E7-9A31-764575AD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idempotência  ·  timeout e retry  ·  logging  ·  Docker  ·  CI/CD  ·  testes E2E  ·  Swagger</a:t>
            </a:r>
          </a:p>
        </p:txBody>
      </p:sp>
    </p:spTree>
    <p:extLst>
      <p:ext uri="{BB962C8B-B14F-4D97-AF65-F5344CB8AC3E}">
        <p14:creationId xmlns:p14="http://schemas.microsoft.com/office/powerpoint/2010/main" val="699250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B8492-F0CD-4381-919C-EBEB196E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A1C3E-F000-4D8F-9255-258973C8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MÓDULO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EA362-B42C-41AE-8931-F7F8F9F1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Perfis de usuário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C497D-993B-4414-A727-E55D37AC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E178F-6402-4DC3-BECC-F507DBF7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AB3C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39242-AD7A-4F79-94C1-C6E33E09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Três perspectivas sobre o mesmo fluxo Git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56FB6-D727-4882-ABFB-087908B8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0C824-C0DA-4170-A9B4-08D12E34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4D545-A4B4-49C1-B9D0-A41C19DE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Product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D097A-127E-40A7-8A97-6AA1331D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Acompanha escopo, valor e evolução das entregas.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95ADB-42C1-40AD-BF3F-2BA5B435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8600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38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188D1-B32D-499D-98E3-E6CD515F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D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94729-B871-4A17-95CA-9AB741EA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4AB80-0DE2-4196-ADF9-2DDD03C9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Gerente / Scrum Master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8B600-7711-4F39-B248-59BAA295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Observa progresso e identifica gargalos do time.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1A46F-6391-4FAA-9074-05ADCF0C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28600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38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D348A-CAF5-426A-BCBB-BAD31697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D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FAA65C-E624-43D9-A9E8-B046E941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598DD-DC0C-474A-93E9-BAD596E8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Desenvolvedor / Aluno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91905-BAB4-465A-BC8E-144A02DE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Envia código e recebe contexto sobre o próprio fluxo.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ACC32-1F75-44E9-BDCB-12518595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 Módulo 2 conecta decisões de produto, gestão do fluxo e trabalho técnico.</a:t>
            </a:r>
          </a:p>
        </p:txBody>
      </p:sp>
    </p:spTree>
    <p:extLst>
      <p:ext uri="{BB962C8B-B14F-4D97-AF65-F5344CB8AC3E}">
        <p14:creationId xmlns:p14="http://schemas.microsoft.com/office/powerpoint/2010/main" val="8428573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306CB-09EA-4BC5-A594-8A4C5727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90CE4-283E-49A3-A3A5-9F77E6BB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MÓDULO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D7084-51F8-4188-9BBD-B0CF53C7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 escopo ao backlog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6A7F4-A767-4068-8469-4A6A99DF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886E8-640F-4750-8438-65FDA821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AB3C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0B3B1-E42B-447E-86C9-77ED14C3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A estrutura do YouTrack organiza o universo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604C6-69B2-41D8-95C2-25D8D107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474D1-88C6-408B-92FA-0C5442A0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Epics</a:t>
            </a:r>
          </a:p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E0 a E6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03929-0509-4756-84A1-DDE4EE5D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68D5E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8D5E8"/>
                </a:solidFill>
                <a:latin typeface="Arial"/>
                <a:ea typeface="Arial"/>
                <a:cs typeface="Arial"/>
              </a:rPr>
              <a:t>≈100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5CE01-25E8-4D62-A1F5-42104B4D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385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User Stories</a:t>
            </a:r>
          </a:p>
          <a:p xmlns:a="http://schemas.openxmlformats.org/drawingml/2006/main">
            <a:pPr algn="l"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levantadas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F8086-95EE-4F0D-8779-149BA062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1000125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EPIC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01AC5-8467-40F0-9918-1F050212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524375"/>
            <a:ext cx="1190625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1C2230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BFFE4-B4B7-44BC-86F9-E6866633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24375"/>
            <a:ext cx="1428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243044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USER 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BF234-30F3-4CCC-B319-C2E522AF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404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O backlog descreve o produto. A priorização define o que entra agora.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0071F-5B0D-4DED-9930-9DA4560B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6667500" cy="433387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41924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ed498bdc54a02"/>
          <a:stretch xmlns:a="http://schemas.openxmlformats.org/drawingml/2006/main"/>
        </p:blipFill>
        <p:spPr>
          <a:xfrm xmlns:a="http://schemas.openxmlformats.org/drawingml/2006/main">
            <a:off x="5095875" y="2250050"/>
            <a:ext cx="6381750" cy="3358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3553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D033B-EA87-4776-B8A8-BDDB7FD5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D48BE-0EFD-447B-9FF6-6C100A50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MÓDULO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A4CE3-3158-4AD9-8A09-1163BBC5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Roadmap e cronograma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6DBC5-6279-4BAB-AD24-23223970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12596-CDBD-4296-B715-F49AD845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AB3C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F5CEF-4F15-45D9-A4F6-8F121594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573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28 ago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765C0-026C-4775-873C-33B7FA26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573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12 nov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23BA2-61FD-4997-9ADE-D55B7890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573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≈ 11 semanas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72968-FBF6-4F1B-84B3-2FBFCFC1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Planejamento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92917-E2D4-4A1F-AB25-5B92C4B2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907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38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F3C8C-83FF-4C27-AC48-C9A28C00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47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Implementação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050BE-7531-4D85-B9C7-6D60E672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38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D9184-846D-45DC-8A05-EEAD9449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47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Integração e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CFC4B-8E43-4865-B6E1-93C8956B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43175"/>
            <a:ext cx="1110615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141924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1315e1ef947d3"/>
          <a:stretch xmlns:a="http://schemas.openxmlformats.org/drawingml/2006/main"/>
        </p:blipFill>
        <p:spPr>
          <a:xfrm xmlns:a="http://schemas.openxmlformats.org/drawingml/2006/main">
            <a:off x="2604730" y="2667000"/>
            <a:ext cx="6925389" cy="3467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38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1FF07E-4F87-4B2D-9505-71A13B8C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C5DD9-C135-47D9-A1D6-4855BAE1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MÓDULO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FD702-ECA9-4F72-875A-EA810669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Priorização da trilha funcional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04256-B62A-47FA-B1E5-602DD195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AFA21-8C61-4987-8A60-D5BF7712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AB3C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884B0-B02F-41D6-9DFE-BBCC41B8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Uma sequência end-to-end concentra o esforço de implementação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2C1FB-E35C-422B-B609-A651AC5D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86000"/>
            <a:ext cx="12763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242B3A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GitHub +</a:t>
            </a:r>
          </a:p>
          <a:p xmlns:a="http://schemas.openxmlformats.org/drawingml/2006/main">
            <a:pPr algn="ctr">
              <a:defRPr sz="10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handshake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876A6-4BAF-4CC9-9E17-9AE372BF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33625"/>
            <a:ext cx="161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8E485-E602-47D0-85BD-1E2A9FD1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86000"/>
            <a:ext cx="12763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242B3A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Webhook +</a:t>
            </a:r>
          </a:p>
          <a:p xmlns:a="http://schemas.openxmlformats.org/drawingml/2006/main">
            <a:pPr algn="ctr">
              <a:defRPr sz="10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HMAC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54DD5-DC99-44E4-9DA6-43A81A63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333625"/>
            <a:ext cx="161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E358C-D0D2-48FC-BA0A-DBA43971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86000"/>
            <a:ext cx="12763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242B3A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Commits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97949-5F5D-4C05-9F74-47A76BFC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33625"/>
            <a:ext cx="161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DB306-3A92-43BC-B5AA-1DFD6D7A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12763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242B3A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Idempotência</a:t>
            </a:r>
          </a:p>
          <a:p xmlns:a="http://schemas.openxmlformats.org/drawingml/2006/main">
            <a:pPr algn="ctr">
              <a:defRPr sz="10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X-GitHub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47BD9-A713-4953-9DFE-158B4FAB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33625"/>
            <a:ext cx="161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74C10-AA9E-4973-8581-21761618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12763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C3140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Persistência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7A45B-7D47-4A58-AA80-2E20040D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33625"/>
            <a:ext cx="161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39EDF-DC35-4251-A445-2C190D20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86000"/>
            <a:ext cx="12763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C3140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Sincronização</a:t>
            </a:r>
          </a:p>
          <a:p xmlns:a="http://schemas.openxmlformats.org/drawingml/2006/main">
            <a:pPr algn="ctr">
              <a:defRPr sz="10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incremental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92BEA-50B9-4EA8-8196-B2FBABF8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161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4193E-1659-4364-A2EE-6FA001BB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286000"/>
            <a:ext cx="12763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C3140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15AB5-C33B-4814-B770-A7B90DA3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333625"/>
            <a:ext cx="161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76BDF-2504-4C68-9033-A428EB95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286000"/>
            <a:ext cx="12763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3A1F28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Analytics / 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72D84-59A6-4AF5-8EF7-6BA56750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194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Base de entrega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E2796-222B-4048-824A-32B4C4B0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71825"/>
            <a:ext cx="923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Docker  ·  CI  ·  logging  ·  resiliência  ·  Swagger  ·  deployment  ·  E2E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038525-2554-49A1-B6E0-3BFC005F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3571875" cy="233362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41924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f2abe7c404b07"/>
          <a:srcRect xmlns:a="http://schemas.openxmlformats.org/drawingml/2006/main" l="0" t="15852" r="0" b="158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3838575"/>
            <a:ext cx="3419475" cy="2181225"/>
          </a:xfrm>
          <a:prstGeom xmlns:a="http://schemas.openxmlformats.org/drawingml/2006/main" prst="roundRect">
            <a:avLst>
              <a:gd name="adj" fmla="val 3493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AFA7E0-B0AF-4FDD-A865-8D2AAF7C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762375"/>
            <a:ext cx="3571875" cy="233362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41924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e67df3d3f4294"/>
          <a:srcRect xmlns:a="http://schemas.openxmlformats.org/drawingml/2006/main" l="0" t="17310" r="0" b="17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3838575"/>
            <a:ext cx="3419475" cy="2181225"/>
          </a:xfrm>
          <a:prstGeom xmlns:a="http://schemas.openxmlformats.org/drawingml/2006/main" prst="roundRect">
            <a:avLst>
              <a:gd name="adj" fmla="val 3493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8B96B6-2F99-44E3-9692-66F0B9EF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62375"/>
            <a:ext cx="3571875" cy="233362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41924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aab06406c458b"/>
          <a:srcRect xmlns:a="http://schemas.openxmlformats.org/drawingml/2006/main" l="0" t="16265" r="0" b="162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58175" y="3838575"/>
            <a:ext cx="3419475" cy="2181225"/>
          </a:xfrm>
          <a:prstGeom xmlns:a="http://schemas.openxmlformats.org/drawingml/2006/main" prst="roundRect">
            <a:avLst>
              <a:gd name="adj" fmla="val 3493"/>
            </a:avLst>
          </a:prstGeom>
        </p:spPr>
      </p:pic>
    </p:spTree>
    <p:extLst>
      <p:ext uri="{BB962C8B-B14F-4D97-AF65-F5344CB8AC3E}">
        <p14:creationId xmlns:p14="http://schemas.microsoft.com/office/powerpoint/2010/main" val="19026478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03B82-0827-4594-8165-F010624F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8943-4ECC-42C4-8414-E0AA09DB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MÓDULO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32137-9E71-494B-A3B9-13EB954F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Kanban e execução atual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1F028-1DAF-41F9-AEAF-B77CB80E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6EC19-0E87-4656-BEFE-3C1A7883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AB3C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FCEFA-63D0-4046-93A0-5DBBABB0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AB3C2"/>
                </a:solidFill>
                <a:latin typeface="Arial"/>
                <a:ea typeface="Arial"/>
                <a:cs typeface="Arial"/>
              </a:rPr>
              <a:t>Backlog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D9FD6-DFF2-4C18-B804-6C52BAF3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763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To-Do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7335-A81F-4D24-AB80-69D2A8C0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763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D5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8D5E8"/>
                </a:solidFill>
                <a:latin typeface="Arial"/>
                <a:ea typeface="Arial"/>
                <a:cs typeface="Arial"/>
              </a:rPr>
              <a:t>Doing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EFAC6-5C06-48F5-91A7-1ECBB2A1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763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D39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D39B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64085-8F22-44EC-89A6-28D60F27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7810500" cy="4191000"/>
          </a:xfrm>
          <a:prstGeom xmlns:a="http://schemas.openxmlformats.org/drawingml/2006/main" prst="roundRect">
            <a:avLst>
              <a:gd name="adj" fmla="val 3182"/>
            </a:avLst>
          </a:prstGeom>
          <a:solidFill xmlns:a="http://schemas.openxmlformats.org/drawingml/2006/main">
            <a:srgbClr val="141924"/>
          </a:solidFill>
          <a:ln xmlns:a="http://schemas.openxmlformats.org/drawingml/2006/main" w="9525">
            <a:solidFill>
              <a:srgbClr val="303849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3cb7136b64380"/>
          <a:stretch xmlns:a="http://schemas.openxmlformats.org/drawingml/2006/main"/>
        </p:blipFill>
        <p:spPr>
          <a:xfrm xmlns:a="http://schemas.openxmlformats.org/drawingml/2006/main">
            <a:off x="628650" y="2158001"/>
            <a:ext cx="7581900" cy="378024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DC47F-2CCC-4695-8FFE-608A9C52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EM IMPLEMENTAÇÃO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B9A5C-7B12-4972-A4BA-0FD03B28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289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M2-81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DEFF2-0990-4A79-9F27-5D83AAA9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099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8D5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8D5E8"/>
                </a:solidFill>
                <a:latin typeface="Arial"/>
                <a:ea typeface="Arial"/>
                <a:cs typeface="Arial"/>
              </a:rPr>
              <a:t>US1.2.018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76648-0763-41DE-BCC7-E9A777E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Health check de conectividade com 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FDBA2B-E2E2-43CD-AC5D-264FC5EA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Retorna latência e status para detectar falhas internas ou de infraestrutura.</a:t>
            </a:r>
          </a:p>
        </p:txBody>
      </p:sp>
    </p:spTree>
    <p:extLst>
      <p:ext uri="{BB962C8B-B14F-4D97-AF65-F5344CB8AC3E}">
        <p14:creationId xmlns:p14="http://schemas.microsoft.com/office/powerpoint/2010/main" val="8198565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1D20E-6876-4357-956F-97B3958B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84E06-7ACC-435C-8D5D-BD01ABF4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MÓDULO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D2E6F-43DB-4665-A029-AA21E78E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Protótipo Figma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0965C-DD54-4958-979C-F374B6C0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16DE7-071C-4C4F-9CB7-2EC08FED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AB3C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63567-0C95-4655-81DF-B8BDE0BB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Protótipo / PoC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3C1D9-D87C-4251-9177-C87FF3BE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Ainda não representa o MVP funcional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4AC3A-E65B-4D40-B05C-71265CCD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89535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19050">
            <a:solidFill>
              <a:srgbClr val="3A43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11682-F814-402F-A040-FCDEF5AB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3D631-ED8B-4E47-A884-3BC7B770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AA6C2-3B75-45A1-9704-59FA2AEF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2FBBF-0B9A-4CFE-9945-B3451C51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D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2F83D-A7C4-45A0-BD6D-2159AE00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766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Área reservada para as telas e o fluxo do Figma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355DB-2046-45E0-80D9-10924EF0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Inserir assets/07-figma-overview.png e assets/08-figma-flow.png antes da apresentação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EFF1E-24B9-4BE5-8D12-81F5C7DE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673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Placeholder explícito para não inventar telas</a:t>
            </a:r>
          </a:p>
        </p:txBody>
      </p:sp>
    </p:spTree>
    <p:extLst>
      <p:ext uri="{BB962C8B-B14F-4D97-AF65-F5344CB8AC3E}">
        <p14:creationId xmlns:p14="http://schemas.microsoft.com/office/powerpoint/2010/main" val="3942611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DF66A5-62FB-4EA1-8CB9-9DB0A332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D34A1-2C81-4083-AC37-7F760500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MÓDULO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890A5-E275-4785-8E92-CEAA7EA4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Estado atual e próximos passos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23C42-6578-4306-9473-437CFEC5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C337A-BFB3-467B-B537-704099A8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AB3C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B83DA-29F3-41E3-9EA9-C9CF63F8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4D3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D39B"/>
                </a:solidFill>
                <a:latin typeface="Arial"/>
                <a:ea typeface="Arial"/>
                <a:cs typeface="Arial"/>
              </a:rPr>
              <a:t>JÁ ESTRUTURADO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AD6B2-0462-490D-A11C-5F17D13F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D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8027E-1E2A-477D-8591-CE1A970C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669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Escopo e perfis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CE5C1-7BD2-4741-87A4-D0415FD0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D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EE6B2-0DFE-47B3-BA9D-F1EF446C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574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Backlog e hierarquia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C278B-614E-4DE6-8A66-40F1820B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D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AC9B7-FF26-4403-9626-5D4EBC3F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480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Cronograma e Kanban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73B3D-25DD-4296-A25F-3F534173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D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BA48C-4AD3-47F5-AB45-88698BB2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385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Trilha funcional priorizada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F78BD-BF9D-4264-AB5F-C1CB4A35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D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EE42F-E7A5-4FED-9F24-49558E88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29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Protótipo previsto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49657-7088-4A77-93B1-69DB1F9C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66875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38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18DEC-6F47-468B-9FF8-F0D3BDC5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EM ANDAMENTO / PRÓXIMOS PASSOS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84994A-7CEA-4DFE-9411-19CB102C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E71F10-7D9C-4F08-9780-06DA3513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Implementar a trilha end-to-end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B0CA27-F3CB-4060-B4A8-DB106B6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22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4486D-63BE-45FF-B109-B04C734E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47950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Consolidar MVP e deploy funcional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E4237F-3DF6-4C17-815B-65051F63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22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48F311-0B46-4368-93BE-3A768F45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38500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Adicionar CI/CD e testes E2E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355788-9690-46A3-860D-452B724E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22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2FD5E-133C-43F9-8887-2D119171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29050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Integrar com os demais microsserviços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2792BE-375B-437E-8D41-CB76685D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22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D5CFC3-41C1-437F-8DC6-7AC6EB0D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19600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Fechar arquitetura e release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680A89-850D-40C5-B86F-C1EF3699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11106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8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ADEF57-FC87-42D9-99A8-1ECB59BC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3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3C2"/>
                </a:solidFill>
                <a:latin typeface="Arial"/>
                <a:ea typeface="Arial"/>
                <a:cs typeface="Arial"/>
              </a:rPr>
              <a:t>AP1: evidências do planejamento e do trabalho já produzido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BB80DB-BE13-4F9F-8836-00E3F93E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578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4D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4D57"/>
                </a:solidFill>
                <a:latin typeface="Arial"/>
                <a:ea typeface="Arial"/>
                <a:cs typeface="Arial"/>
              </a:rPr>
              <a:t>Próximo marco: MVP</a:t>
            </a:r>
          </a:p>
        </p:txBody>
      </p:sp>
    </p:spTree>
    <p:extLst>
      <p:ext uri="{BB962C8B-B14F-4D97-AF65-F5344CB8AC3E}">
        <p14:creationId xmlns:p14="http://schemas.microsoft.com/office/powerpoint/2010/main" val="912628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2026-10-02T18:54:39.6110000Z</dcterms:created>
  <dcterms:modified xsi:type="dcterms:W3CDTF">2026-10-02T18:54:39.6110000Z</dcterms:modified>
</coreProperties>
</file>